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6" d="100"/>
          <a:sy n="66" d="100"/>
        </p:scale>
        <p:origin x="644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399925"/>
            <a:ext cx="6217920" cy="5394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54669" y="617018"/>
            <a:ext cx="5303520" cy="2560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850" b="1">
                <a:solidFill>
                  <a:srgbClr val="E2E8F0"/>
                </a:solidFill>
                <a:latin typeface="Segoe UI"/>
              </a:defRPr>
            </a:pPr>
            <a:r>
              <a:rPr dirty="0"/>
              <a:t>PCCOE INTERNATIONAL GRAND CHALLENGE: 2026 | PUNE, INDIA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962127"/>
            <a:ext cx="2926080" cy="256032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THEME: AI FOR CLIMATE CHANGE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303020"/>
            <a:ext cx="548640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4600" b="1">
                <a:solidFill>
                  <a:srgbClr val="0F172A"/>
                </a:solidFill>
                <a:latin typeface="Segoe UI"/>
              </a:defRPr>
            </a:pPr>
            <a:r>
              <a:rPr dirty="0"/>
              <a:t>FARMSHIELD AI</a:t>
            </a:r>
          </a:p>
          <a:p>
            <a:pPr>
              <a:spcBef>
                <a:spcPts val="600"/>
              </a:spcBef>
              <a:defRPr sz="1500" b="1">
                <a:solidFill>
                  <a:srgbClr val="059669"/>
                </a:solidFill>
                <a:latin typeface="Segoe UI"/>
              </a:defRPr>
            </a:pPr>
            <a:r>
              <a:rPr dirty="0"/>
              <a:t>AI-Powered Multi-Hazard Climate Impact &amp; Early Intervention System for Agriculture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4669" y="2628900"/>
            <a:ext cx="5486400" cy="9601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>
              <a:defRPr sz="1150" b="1">
                <a:solidFill>
                  <a:srgbClr val="059669"/>
                </a:solidFill>
                <a:latin typeface="Segoe UI"/>
              </a:defRPr>
            </a:pPr>
            <a:r>
              <a:rPr dirty="0"/>
              <a:t>“</a:t>
            </a:r>
            <a:r>
              <a:rPr dirty="0" err="1"/>
              <a:t>FarmShield</a:t>
            </a:r>
            <a:r>
              <a:rPr dirty="0"/>
              <a:t> converts a weather warning into a crop-specific intervention, then uses field evidence to update the risk.”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3229" y="3760470"/>
            <a:ext cx="5486400" cy="6858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10B981"/>
                </a:solidFill>
                <a:latin typeface="Segoe UI"/>
              </a:defRPr>
            </a:pPr>
            <a:r>
              <a:t>“From Climate Prediction to Crop Protection”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7634" y="5919645"/>
            <a:ext cx="5230167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rPr sz="1200" dirty="0">
                <a:solidFill>
                  <a:srgbClr val="00B0F0"/>
                </a:solidFill>
              </a:rPr>
              <a:t>Team Members Details:  </a:t>
            </a:r>
            <a:r>
              <a:rPr lang="en-IN" sz="1200" dirty="0">
                <a:solidFill>
                  <a:srgbClr val="00B0F0"/>
                </a:solidFill>
              </a:rPr>
              <a:t>Dinesh </a:t>
            </a:r>
            <a:r>
              <a:rPr lang="en-IN" sz="1200" dirty="0" err="1">
                <a:solidFill>
                  <a:srgbClr val="00B0F0"/>
                </a:solidFill>
              </a:rPr>
              <a:t>Khande</a:t>
            </a:r>
            <a:r>
              <a:rPr lang="en-IN" sz="1200" dirty="0">
                <a:solidFill>
                  <a:srgbClr val="00B0F0"/>
                </a:solidFill>
              </a:rPr>
              <a:t> • </a:t>
            </a:r>
            <a:r>
              <a:rPr lang="en-IN" sz="1200" dirty="0" err="1">
                <a:solidFill>
                  <a:srgbClr val="00B0F0"/>
                </a:solidFill>
              </a:rPr>
              <a:t>Akshay</a:t>
            </a:r>
            <a:r>
              <a:rPr lang="en-IN" sz="1200" dirty="0">
                <a:solidFill>
                  <a:srgbClr val="00B0F0"/>
                </a:solidFill>
              </a:rPr>
              <a:t> </a:t>
            </a:r>
            <a:r>
              <a:rPr lang="en-IN" sz="1200" dirty="0" err="1">
                <a:solidFill>
                  <a:srgbClr val="00B0F0"/>
                </a:solidFill>
              </a:rPr>
              <a:t>Ryakawar</a:t>
            </a:r>
            <a:r>
              <a:rPr lang="en-IN" sz="1200" dirty="0">
                <a:solidFill>
                  <a:srgbClr val="00B0F0"/>
                </a:solidFill>
              </a:rPr>
              <a:t> • </a:t>
            </a:r>
            <a:r>
              <a:rPr lang="en-IN" sz="1200" dirty="0" err="1">
                <a:solidFill>
                  <a:srgbClr val="00B0F0"/>
                </a:solidFill>
              </a:rPr>
              <a:t>Sanskar</a:t>
            </a:r>
            <a:r>
              <a:rPr lang="en-IN" sz="1200" dirty="0">
                <a:solidFill>
                  <a:srgbClr val="00B0F0"/>
                </a:solidFill>
              </a:rPr>
              <a:t> </a:t>
            </a:r>
            <a:r>
              <a:rPr lang="en-IN" sz="1200" dirty="0" err="1">
                <a:solidFill>
                  <a:srgbClr val="00B0F0"/>
                </a:solidFill>
              </a:rPr>
              <a:t>Penshanwar</a:t>
            </a:r>
            <a:endParaRPr lang="en-IN" sz="1200" dirty="0">
              <a:solidFill>
                <a:srgbClr val="00B0F0"/>
              </a:solidFill>
            </a:endParaRPr>
          </a:p>
          <a:p>
            <a:pPr>
              <a:defRPr sz="1000">
                <a:solidFill>
                  <a:srgbClr val="64748B"/>
                </a:solidFill>
              </a:defRPr>
            </a:pPr>
            <a:r>
              <a:rPr lang="en-IN" sz="1200" dirty="0">
                <a:solidFill>
                  <a:srgbClr val="00B0F0"/>
                </a:solidFill>
              </a:rPr>
              <a:t>JSPM College of Engineering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rPr lang="en-IN" sz="1200" dirty="0" err="1">
                <a:solidFill>
                  <a:srgbClr val="00B0F0"/>
                </a:solidFill>
              </a:rPr>
              <a:t>Savitribai</a:t>
            </a:r>
            <a:r>
              <a:rPr lang="en-IN" sz="1200" dirty="0">
                <a:solidFill>
                  <a:srgbClr val="00B0F0"/>
                </a:solidFill>
              </a:rPr>
              <a:t> </a:t>
            </a:r>
            <a:r>
              <a:rPr lang="en-IN" sz="1200" dirty="0" err="1">
                <a:solidFill>
                  <a:srgbClr val="00B0F0"/>
                </a:solidFill>
              </a:rPr>
              <a:t>Phule</a:t>
            </a:r>
            <a:r>
              <a:rPr lang="en-IN" sz="1200">
                <a:solidFill>
                  <a:srgbClr val="00B0F0"/>
                </a:solidFill>
              </a:rPr>
              <a:t> Pune University (SPPU)</a:t>
            </a:r>
            <a:endParaRPr lang="en-US" sz="1200" dirty="0" smtClean="0">
              <a:solidFill>
                <a:srgbClr val="00B0F0"/>
              </a:solidFill>
            </a:endParaRPr>
          </a:p>
          <a:p>
            <a:pPr>
              <a:defRPr sz="1000">
                <a:solidFill>
                  <a:srgbClr val="64748B"/>
                </a:solidFill>
              </a:defRPr>
            </a:pPr>
            <a:r>
              <a:rPr lang="en-US" sz="1200" dirty="0">
                <a:solidFill>
                  <a:srgbClr val="00B0F0"/>
                </a:solidFill>
              </a:rPr>
              <a:t> </a:t>
            </a:r>
            <a:r>
              <a:rPr lang="en-US" sz="1200" dirty="0" smtClean="0">
                <a:solidFill>
                  <a:srgbClr val="00B0F0"/>
                </a:solidFill>
              </a:rPr>
              <a:t>            </a:t>
            </a:r>
            <a:endParaRPr sz="1200" dirty="0">
              <a:solidFill>
                <a:srgbClr val="00B0F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PROBLEM STATEMENT/IDEA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Problem Statement/Idea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64748B"/>
                </a:solidFill>
                <a:latin typeface="Segoe UI"/>
              </a:defRPr>
            </a:pPr>
            <a:r>
              <a:t>Climate risk is no longer a single isolated forecast — compounding shocks disrupt specific crop cycles.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10728655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EF4444"/>
                </a:solidFill>
                <a:latin typeface="Segoe UI"/>
              </a:defRPr>
            </a:pPr>
            <a:r>
              <a:t>⚡ THE VULNERABILITY CHAIN:   Weather Event   ➔   Unnoticed Crop Stress   ➔   Preventable Crop Loss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2542032" cy="21031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217627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/>
            </a:pPr>
            <a:r>
              <a:t>🌧️</a:t>
            </a:r>
          </a:p>
          <a:p>
            <a:pPr>
              <a:spcBef>
                <a:spcPts val="600"/>
              </a:spcBef>
              <a:defRPr sz="1350" b="1">
                <a:solidFill>
                  <a:srgbClr val="0F172A"/>
                </a:solidFill>
                <a:latin typeface="Segoe UI"/>
              </a:defRPr>
            </a:pPr>
            <a:r>
              <a:t>Excess Rainfall</a:t>
            </a:r>
          </a:p>
          <a:p>
            <a:pPr>
              <a:spcBef>
                <a:spcPts val="600"/>
              </a:spcBef>
              <a:defRPr sz="1200" b="1">
                <a:solidFill>
                  <a:srgbClr val="EF4444"/>
                </a:solidFill>
                <a:latin typeface="Segoe UI"/>
              </a:defRPr>
            </a:pPr>
            <a:r>
              <a:t>Waterlogging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2377440"/>
            <a:ext cx="2542032" cy="21031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39312" y="2514600"/>
            <a:ext cx="217627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/>
            </a:pPr>
            <a:r>
              <a:t>☀️</a:t>
            </a:r>
          </a:p>
          <a:p>
            <a:pPr>
              <a:spcBef>
                <a:spcPts val="600"/>
              </a:spcBef>
              <a:defRPr sz="1350" b="1">
                <a:solidFill>
                  <a:srgbClr val="0F172A"/>
                </a:solidFill>
                <a:latin typeface="Segoe UI"/>
              </a:defRPr>
            </a:pPr>
            <a:r>
              <a:t>Heat Stress</a:t>
            </a:r>
          </a:p>
          <a:p>
            <a:pPr>
              <a:spcBef>
                <a:spcPts val="600"/>
              </a:spcBef>
              <a:defRPr sz="1200" b="1">
                <a:solidFill>
                  <a:srgbClr val="F59E0B"/>
                </a:solidFill>
                <a:latin typeface="Segoe UI"/>
              </a:defRPr>
            </a:pPr>
            <a:r>
              <a:t>Flower / Fruit Stress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2377440"/>
            <a:ext cx="2542032" cy="210312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64224" y="2514600"/>
            <a:ext cx="217627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/>
            </a:pPr>
            <a:r>
              <a:t>💧</a:t>
            </a:r>
          </a:p>
          <a:p>
            <a:pPr>
              <a:spcBef>
                <a:spcPts val="600"/>
              </a:spcBef>
              <a:defRPr sz="1350" b="1">
                <a:solidFill>
                  <a:srgbClr val="0F172A"/>
                </a:solidFill>
                <a:latin typeface="Segoe UI"/>
              </a:defRPr>
            </a:pPr>
            <a:r>
              <a:t>Low Rainfall</a:t>
            </a:r>
          </a:p>
          <a:p>
            <a:pPr>
              <a:spcBef>
                <a:spcPts val="600"/>
              </a:spcBef>
              <a:defRPr sz="1200" b="1">
                <a:solidFill>
                  <a:srgbClr val="0EA5E9"/>
                </a:solidFill>
                <a:latin typeface="Segoe UI"/>
              </a:defRPr>
            </a:pPr>
            <a:r>
              <a:t>Water Stress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2377440"/>
            <a:ext cx="2542032" cy="21031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89136" y="2514600"/>
            <a:ext cx="217627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/>
            </a:pPr>
            <a:r>
              <a:t>🌡️</a:t>
            </a:r>
          </a:p>
          <a:p>
            <a:pPr>
              <a:spcBef>
                <a:spcPts val="600"/>
              </a:spcBef>
              <a:defRPr sz="1350" b="1">
                <a:solidFill>
                  <a:srgbClr val="0F172A"/>
                </a:solidFill>
                <a:latin typeface="Segoe UI"/>
              </a:defRPr>
            </a:pPr>
            <a:r>
              <a:t>Temperature Shock</a:t>
            </a:r>
          </a:p>
          <a:p>
            <a:pPr>
              <a:spcBef>
                <a:spcPts val="600"/>
              </a:spcBef>
              <a:defRPr sz="1200" b="1">
                <a:solidFill>
                  <a:srgbClr val="F59E0B"/>
                </a:solidFill>
                <a:latin typeface="Segoe UI"/>
              </a:defRPr>
            </a:pPr>
            <a:r>
              <a:t>Growth Disruption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09160"/>
            <a:ext cx="10728655" cy="1463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E2E8F0"/>
                </a:solidFill>
                <a:latin typeface="Segoe UI"/>
              </a:defRPr>
            </a:pPr>
            <a:r>
              <a:t>“Farmers get weather forecasts.</a:t>
            </a:r>
          </a:p>
          <a:p>
            <a:pPr algn="ctr">
              <a:defRPr sz="2400" b="1">
                <a:solidFill>
                  <a:srgbClr val="10B981"/>
                </a:solidFill>
                <a:latin typeface="Segoe UI"/>
              </a:defRPr>
            </a:pPr>
            <a:r>
              <a:t>They need crop-specific actions.”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PROBLEM STATEMENT/IDEA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Problem Statement/Idea: The Core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64748B"/>
                </a:solidFill>
                <a:latin typeface="Segoe UI"/>
              </a:defRPr>
            </a:pPr>
            <a:r>
              <a:t>Weather Forecast ≠ Crop Protection — Why general meteorological forecasts fail to stop crop loss.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66344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t/>
            </a:r>
            <a:br/>
            <a:r>
              <a:t/>
            </a:r>
            <a:br/>
            <a:r>
              <a:t>Typical Flow:</a:t>
            </a:r>
          </a:p>
          <a:p>
            <a:pPr>
              <a:spcBef>
                <a:spcPts val="400"/>
              </a:spcBef>
              <a:defRPr sz="1150" b="1">
                <a:solidFill>
                  <a:srgbClr val="EF4444"/>
                </a:solidFill>
                <a:latin typeface="Segoe UI"/>
              </a:defRPr>
            </a:pPr>
            <a:r>
              <a:t>Weather Satellite  ➔  'Rain Expected: 70%'  ➔  Confused Farmer</a:t>
            </a:r>
          </a:p>
          <a:p>
            <a:pPr>
              <a:spcBef>
                <a:spcPts val="1000"/>
              </a:spcBef>
              <a:defRPr sz="1150" b="1">
                <a:solidFill>
                  <a:srgbClr val="0F172A"/>
                </a:solidFill>
                <a:latin typeface="Segoe UI"/>
              </a:defRPr>
            </a:pPr>
            <a:r>
              <a:t>❌ Tells what the sky does, not what the crop needs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A rain forecast does not explain field risk.</a:t>
            </a:r>
          </a:p>
          <a:p>
            <a:pPr>
              <a:spcBef>
                <a:spcPts val="1000"/>
              </a:spcBef>
              <a:defRPr sz="1150" b="1">
                <a:solidFill>
                  <a:srgbClr val="0F172A"/>
                </a:solidFill>
                <a:latin typeface="Segoe UI"/>
              </a:defRPr>
            </a:pPr>
            <a:r>
              <a:t>❌ Blind to growth stages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30mm rain is good for sugarcane, but fatal for flowering peas.</a:t>
            </a:r>
          </a:p>
          <a:p>
            <a:pPr>
              <a:spcBef>
                <a:spcPts val="1000"/>
              </a:spcBef>
              <a:defRPr sz="1150" b="1">
                <a:solidFill>
                  <a:srgbClr val="0F172A"/>
                </a:solidFill>
                <a:latin typeface="Segoe UI"/>
              </a:defRPr>
            </a:pPr>
            <a:r>
              <a:t>❌ Zero field verification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One-way broadcast with no check on whether crops survived.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1828800"/>
            <a:ext cx="2377440" cy="292608"/>
          </a:xfrm>
          <a:prstGeom prst="round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00" b="1">
                <a:solidFill>
                  <a:srgbClr val="EF4444"/>
                </a:solidFill>
                <a:latin typeface="Segoe UI"/>
              </a:defRPr>
            </a:pPr>
            <a:r>
              <a:t>STATUS QUO: WEATHER APPS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1645920"/>
            <a:ext cx="5212080" cy="39319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22415" y="1828800"/>
            <a:ext cx="466344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t/>
            </a:r>
            <a:br/>
            <a:r>
              <a:t/>
            </a:r>
            <a:br/>
            <a:r>
              <a:t>FarmShield Flow:</a:t>
            </a:r>
          </a:p>
          <a:p>
            <a:pPr>
              <a:spcBef>
                <a:spcPts val="400"/>
              </a:spcBef>
              <a:defRPr sz="1150" b="1">
                <a:solidFill>
                  <a:srgbClr val="059669"/>
                </a:solidFill>
                <a:latin typeface="Segoe UI"/>
              </a:defRPr>
            </a:pPr>
            <a:r>
              <a:t>Weather ➔ Hazard ➔ Crop Stage ➔ Action ➔ Photo ➔ Verify</a:t>
            </a:r>
          </a:p>
          <a:p>
            <a:pPr>
              <a:spcBef>
                <a:spcPts val="1000"/>
              </a:spcBef>
              <a:defRPr sz="1150" b="1">
                <a:solidFill>
                  <a:srgbClr val="0F172A"/>
                </a:solidFill>
                <a:latin typeface="Segoe UI"/>
              </a:defRPr>
            </a:pPr>
            <a:r>
              <a:t>✔ Answers: 'What does this weather mean for THIS crop?'</a:t>
            </a:r>
          </a:p>
          <a:p>
            <a:pPr>
              <a:defRPr sz="1050">
                <a:solidFill>
                  <a:srgbClr val="334155"/>
                </a:solidFill>
                <a:latin typeface="Segoe UI"/>
              </a:defRPr>
            </a:pPr>
            <a:r>
              <a:t>Converts climate volatility into localized crop vulnerability.</a:t>
            </a:r>
          </a:p>
          <a:p>
            <a:pPr>
              <a:spcBef>
                <a:spcPts val="1000"/>
              </a:spcBef>
              <a:defRPr sz="1150" b="1">
                <a:solidFill>
                  <a:srgbClr val="0F172A"/>
                </a:solidFill>
                <a:latin typeface="Segoe UI"/>
              </a:defRPr>
            </a:pPr>
            <a:r>
              <a:t>✔ Growth-stage specific rules</a:t>
            </a:r>
          </a:p>
          <a:p>
            <a:pPr>
              <a:defRPr sz="1050">
                <a:solidFill>
                  <a:srgbClr val="334155"/>
                </a:solidFill>
                <a:latin typeface="Segoe UI"/>
              </a:defRPr>
            </a:pPr>
            <a:r>
              <a:t>Dynamic thresholds for germination, flowering, podding, and harvest.</a:t>
            </a:r>
          </a:p>
          <a:p>
            <a:pPr>
              <a:spcBef>
                <a:spcPts val="1000"/>
              </a:spcBef>
              <a:defRPr sz="1150" b="1">
                <a:solidFill>
                  <a:srgbClr val="0F172A"/>
                </a:solidFill>
                <a:latin typeface="Segoe UI"/>
              </a:defRPr>
            </a:pPr>
            <a:r>
              <a:t>✔ Field verification loop</a:t>
            </a:r>
          </a:p>
          <a:p>
            <a:pPr>
              <a:defRPr sz="1050">
                <a:solidFill>
                  <a:srgbClr val="334155"/>
                </a:solidFill>
                <a:latin typeface="Segoe UI"/>
              </a:defRPr>
            </a:pPr>
            <a:r>
              <a:t>Farmer photo upload allows AI to verify crop stress trend over 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22415" y="1828800"/>
            <a:ext cx="2377440" cy="29260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FARMSHIELD AI: CLOSED LOOP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715000"/>
            <a:ext cx="10728655" cy="5486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10B981"/>
                </a:solidFill>
                <a:latin typeface="Segoe UI"/>
              </a:defRPr>
            </a:pPr>
            <a:r>
              <a:t>THE DIFFERENCE: Normal weather apps predict weather. FarmShield predicts CROP RISK and verifies FIELD OUTCOMES.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PROPOSED SOLUTION/ARCHITECTURE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Proposed Solution/Architecture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64748B"/>
                </a:solidFill>
                <a:latin typeface="Segoe UI"/>
              </a:defRPr>
            </a:pPr>
            <a:r>
              <a:t>From Forecast to Field-Level Action — The 5-stage closed-loop pipeline.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020824" cy="356616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1746504" cy="18312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Segoe UI"/>
              </a:defRPr>
            </a:pPr>
            <a:r>
              <a:rPr sz="1600" dirty="0"/>
              <a:t>1. PREDICT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  <a:latin typeface="Segoe UI"/>
              </a:defRPr>
            </a:pPr>
            <a:r>
              <a:rPr sz="1600" dirty="0"/>
              <a:t>🌦️ Weather Telemetry</a:t>
            </a:r>
          </a:p>
          <a:p>
            <a:pPr>
              <a:spcBef>
                <a:spcPts val="10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sz="1400" dirty="0"/>
              <a:t>Ingest IMD/weather data to detect rainfall, heat, or moisture hazards.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9504" y="1828800"/>
            <a:ext cx="2020824" cy="35661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44952" y="1965960"/>
            <a:ext cx="1746504" cy="18312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Segoe UI"/>
              </a:defRPr>
            </a:pPr>
            <a:r>
              <a:rPr dirty="0"/>
              <a:t>2</a:t>
            </a:r>
            <a:r>
              <a:rPr sz="1600" dirty="0"/>
              <a:t>. ASSESS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  <a:latin typeface="Segoe UI"/>
              </a:defRPr>
            </a:pPr>
            <a:r>
              <a:rPr sz="1600" dirty="0"/>
              <a:t>🌱 Crop Phenology</a:t>
            </a:r>
          </a:p>
          <a:p>
            <a:pPr>
              <a:spcBef>
                <a:spcPts val="10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sz="1400" dirty="0"/>
              <a:t>Map hazard against specific crop variety and vulnerable growth stage.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09571" y="1828800"/>
            <a:ext cx="2020824" cy="35661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21224" y="1965960"/>
            <a:ext cx="1746504" cy="18312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Segoe UI"/>
              </a:defRPr>
            </a:pPr>
            <a:r>
              <a:rPr sz="1600" dirty="0"/>
              <a:t>3. PROTECT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  <a:latin typeface="Segoe UI"/>
              </a:defRPr>
            </a:pPr>
            <a:r>
              <a:rPr sz="1600" dirty="0"/>
              <a:t>🛡️ Field Advisory</a:t>
            </a:r>
          </a:p>
          <a:p>
            <a:pPr>
              <a:spcBef>
                <a:spcPts val="10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sz="1400" dirty="0"/>
              <a:t>Send prescriptive action (e.g. drainage, mulch) in regional language.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0336" y="1828800"/>
            <a:ext cx="2020824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97496" y="1965960"/>
            <a:ext cx="1746504" cy="15850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Segoe UI"/>
              </a:defRPr>
            </a:pPr>
            <a:r>
              <a:rPr sz="1600" dirty="0"/>
              <a:t>4. OBSERVE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  <a:latin typeface="Segoe UI"/>
              </a:defRPr>
            </a:pPr>
            <a:r>
              <a:rPr sz="1600" dirty="0"/>
              <a:t>📸 Field Photo</a:t>
            </a:r>
          </a:p>
          <a:p>
            <a:pPr>
              <a:spcBef>
                <a:spcPts val="10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sz="1400" dirty="0"/>
              <a:t>Farmer performs advisory and uploads a smartphone crop snapshot.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36608" y="1828800"/>
            <a:ext cx="2020824" cy="35661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551149" y="1965960"/>
            <a:ext cx="1746504" cy="15850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rPr dirty="0"/>
              <a:t>5</a:t>
            </a:r>
            <a:r>
              <a:rPr sz="1600" dirty="0"/>
              <a:t>. ADAPT</a:t>
            </a: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rPr sz="1600" dirty="0"/>
              <a:t>🔄 Stress Check</a:t>
            </a:r>
          </a:p>
          <a:p>
            <a:pPr>
              <a:spcBef>
                <a:spcPts val="10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rPr sz="1400" dirty="0"/>
              <a:t>Compare before/after crop condition; update risk &amp; next step.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623560"/>
            <a:ext cx="10728655" cy="5943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59669"/>
                </a:solidFill>
                <a:latin typeface="Segoe UI"/>
              </a:defRPr>
            </a:pPr>
            <a:r>
              <a:t>🔄 THE CLOSED LOOP: Stage 5 field observations automatically feed back into Stage 1 continuous risk monitoring.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UNIQUE FEATURES/INNOVATION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Unique features/Innovation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64748B"/>
                </a:solidFill>
                <a:latin typeface="Segoe UI"/>
              </a:defRPr>
            </a:pPr>
            <a:r>
              <a:t>The Continuous Feedback Loop — Why FarmShield is fundamentally different from a chatbot or weather app.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486400" cy="3931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93776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t/>
            </a:r>
            <a:br/>
            <a:r>
              <a:t/>
            </a:r>
            <a:br/>
            <a:r>
              <a:t>THE 5-STEP FEEDBACK LOOP</a:t>
            </a:r>
          </a:p>
          <a:p>
            <a:pPr>
              <a:spcBef>
                <a:spcPts val="600"/>
              </a:spcBef>
              <a:defRPr sz="1150" b="1">
                <a:solidFill>
                  <a:srgbClr val="E2E8F0"/>
                </a:solidFill>
                <a:latin typeface="Segoe UI"/>
              </a:defRPr>
            </a:pPr>
            <a:r>
              <a:t>1. PREDICT  ➔  Micro-hazard risk identified 48h early</a:t>
            </a:r>
          </a:p>
          <a:p>
            <a:pPr>
              <a:spcBef>
                <a:spcPts val="600"/>
              </a:spcBef>
              <a:defRPr sz="1150" b="1">
                <a:solidFill>
                  <a:srgbClr val="E2E8F0"/>
                </a:solidFill>
                <a:latin typeface="Segoe UI"/>
              </a:defRPr>
            </a:pPr>
            <a:r>
              <a:t>2. PROTECT  ➔  Stage-specific intervention dispatched</a:t>
            </a:r>
          </a:p>
          <a:p>
            <a:pPr>
              <a:spcBef>
                <a:spcPts val="600"/>
              </a:spcBef>
              <a:defRPr sz="1150" b="1">
                <a:solidFill>
                  <a:srgbClr val="E2E8F0"/>
                </a:solidFill>
                <a:latin typeface="Segoe UI"/>
              </a:defRPr>
            </a:pPr>
            <a:r>
              <a:t>3. OBSERVE  ➔  Farmer uploads treated field photo</a:t>
            </a:r>
          </a:p>
          <a:p>
            <a:pPr>
              <a:spcBef>
                <a:spcPts val="600"/>
              </a:spcBef>
              <a:defRPr sz="1150" b="1">
                <a:solidFill>
                  <a:srgbClr val="E2E8F0"/>
                </a:solidFill>
                <a:latin typeface="Segoe UI"/>
              </a:defRPr>
            </a:pPr>
            <a:r>
              <a:t>4. VERIFY   ➔  AI checks if crop stress is recovering</a:t>
            </a:r>
          </a:p>
          <a:p>
            <a:pPr>
              <a:spcBef>
                <a:spcPts val="600"/>
              </a:spcBef>
              <a:defRPr sz="1150" b="1">
                <a:solidFill>
                  <a:srgbClr val="E2E8F0"/>
                </a:solidFill>
                <a:latin typeface="Segoe UI"/>
              </a:defRPr>
            </a:pPr>
            <a:r>
              <a:t>5. ADAPT    ➔  Recalibrate risk &amp; trigger next action</a:t>
            </a:r>
          </a:p>
          <a:p>
            <a:pPr>
              <a:spcBef>
                <a:spcPts val="1000"/>
              </a:spcBef>
              <a:defRPr sz="1100" b="1">
                <a:solidFill>
                  <a:srgbClr val="10B981"/>
                </a:solidFill>
                <a:latin typeface="Segoe UI"/>
              </a:defRPr>
            </a:pPr>
            <a:r>
              <a:t>↺ ADAPT loops back to PREDICT for continuous protection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1828800"/>
            <a:ext cx="2926080" cy="274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10B981"/>
                </a:solidFill>
                <a:latin typeface="Segoe UI"/>
              </a:defRPr>
            </a:pPr>
            <a:r>
              <a:t>THE HERO INNOVATION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645920"/>
            <a:ext cx="4967935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20840" y="1828800"/>
            <a:ext cx="4510735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t/>
            </a:r>
            <a:br/>
            <a:r>
              <a:t/>
            </a:r>
            <a:br/>
            <a:r>
              <a:t>Temporal Observation: BEFORE  ➔  AFTER</a:t>
            </a:r>
          </a:p>
          <a:p>
            <a:pPr>
              <a:spcBef>
                <a:spcPts val="800"/>
              </a:spcBef>
              <a:defRPr sz="1200" b="1">
                <a:solidFill>
                  <a:srgbClr val="059669"/>
                </a:solidFill>
                <a:latin typeface="Segoe UI"/>
              </a:defRPr>
            </a:pPr>
            <a:r>
              <a:t>🟢 STRESS IMPROVING</a:t>
            </a:r>
          </a:p>
          <a:p>
            <a:pPr>
              <a:defRPr sz="1050">
                <a:solidFill>
                  <a:srgbClr val="334155"/>
                </a:solidFill>
                <a:latin typeface="Segoe UI"/>
              </a:defRPr>
            </a:pPr>
            <a:r>
              <a:t>Leaf turgor recovering, water receded. Logs successful intervention protocol.</a:t>
            </a:r>
          </a:p>
          <a:p>
            <a:pPr>
              <a:spcBef>
                <a:spcPts val="800"/>
              </a:spcBef>
              <a:defRPr sz="1200" b="1">
                <a:solidFill>
                  <a:srgbClr val="F59E0B"/>
                </a:solidFill>
                <a:latin typeface="Segoe UI"/>
              </a:defRPr>
            </a:pPr>
            <a:r>
              <a:t>🟡 STRESS PERSISTING</a:t>
            </a:r>
          </a:p>
          <a:p>
            <a:pPr>
              <a:defRPr sz="1050">
                <a:solidFill>
                  <a:srgbClr val="334155"/>
                </a:solidFill>
                <a:latin typeface="Segoe UI"/>
              </a:defRPr>
            </a:pPr>
            <a:r>
              <a:t>Foliar stress stable; soil remains saturated. Dispatches secondary drainage advice.</a:t>
            </a:r>
          </a:p>
          <a:p>
            <a:pPr>
              <a:spcBef>
                <a:spcPts val="800"/>
              </a:spcBef>
              <a:defRPr sz="1200" b="1">
                <a:solidFill>
                  <a:srgbClr val="EF4444"/>
                </a:solidFill>
                <a:latin typeface="Segoe UI"/>
              </a:defRPr>
            </a:pPr>
            <a:r>
              <a:t>🔴 STRESS INCREASING</a:t>
            </a:r>
          </a:p>
          <a:p>
            <a:pPr>
              <a:defRPr sz="1050">
                <a:solidFill>
                  <a:srgbClr val="334155"/>
                </a:solidFill>
                <a:latin typeface="Segoe UI"/>
              </a:defRPr>
            </a:pPr>
            <a:r>
              <a:t>Early root rot or pathogen emergence. Escalates to KVK Extension Officer.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828800"/>
            <a:ext cx="2926080" cy="27432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AI CROP STRESS VERIFICATION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715000"/>
            <a:ext cx="10728655" cy="5943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59669"/>
                </a:solidFill>
                <a:latin typeface="Segoe UI"/>
              </a:defRPr>
            </a:pPr>
            <a:r>
              <a:t>⭐ “FarmShield doesn't stop at an alert — it checks what happened in the field.”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PROPOSED SOLUTION / FIELD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Proposed Solution: Field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64748B"/>
                </a:solidFill>
                <a:latin typeface="Segoe UI"/>
              </a:defRPr>
            </a:pPr>
            <a:r>
              <a:t>One Farmer. One Risk. One Intervention. — Real-world Maharashtra scenario.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10728655" cy="4572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10B981"/>
                </a:solidFill>
                <a:latin typeface="Segoe UI"/>
              </a:defRPr>
            </a:pPr>
            <a:r>
              <a:t>📍 LOCATION: Satara, Maharashtra   |   🌱 CROP: Green Pea   |   STAGE: Flowering (Sensitive to waterlogging)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389888" cy="27432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2377440"/>
            <a:ext cx="1243584" cy="15132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64748B"/>
                </a:solidFill>
                <a:latin typeface="Segoe UI"/>
              </a:defRPr>
            </a:pPr>
            <a:r>
              <a:rPr sz="1600" dirty="0"/>
              <a:t>STEP 01</a:t>
            </a:r>
          </a:p>
          <a:p>
            <a:pPr algn="ctr">
              <a:spcBef>
                <a:spcPts val="1400"/>
              </a:spcBef>
              <a:defRPr sz="1150" b="1">
                <a:solidFill>
                  <a:srgbClr val="EF4444"/>
                </a:solidFill>
                <a:latin typeface="Segoe UI"/>
              </a:defRPr>
            </a:pPr>
            <a:r>
              <a:rPr sz="1600" dirty="0"/>
              <a:t>🌧️ 70 mm Rain</a:t>
            </a:r>
          </a:p>
          <a:p>
            <a:pPr algn="ctr">
              <a:spcBef>
                <a:spcPts val="8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rPr sz="1600" dirty="0"/>
              <a:t>Forecast Spike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2240280"/>
            <a:ext cx="1389888" cy="27432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359152" y="2377440"/>
            <a:ext cx="1243584" cy="15132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64748B"/>
                </a:solidFill>
                <a:latin typeface="Segoe UI"/>
              </a:defRPr>
            </a:pPr>
            <a:r>
              <a:rPr sz="1600" dirty="0"/>
              <a:t>STEP 02</a:t>
            </a:r>
          </a:p>
          <a:p>
            <a:pPr algn="ctr">
              <a:spcBef>
                <a:spcPts val="1400"/>
              </a:spcBef>
              <a:defRPr sz="1150" b="1">
                <a:solidFill>
                  <a:srgbClr val="F59E0B"/>
                </a:solidFill>
                <a:latin typeface="Segoe UI"/>
              </a:defRPr>
            </a:pPr>
            <a:r>
              <a:rPr sz="1600" dirty="0"/>
              <a:t>🌱 Pea + Flowering</a:t>
            </a:r>
          </a:p>
          <a:p>
            <a:pPr algn="ctr">
              <a:spcBef>
                <a:spcPts val="8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rPr sz="1600" dirty="0"/>
              <a:t>Vulnerable Stage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2240280"/>
            <a:ext cx="1389888" cy="27432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13632" y="2377440"/>
            <a:ext cx="1243584" cy="15132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64748B"/>
                </a:solidFill>
                <a:latin typeface="Segoe UI"/>
              </a:defRPr>
            </a:pPr>
            <a:r>
              <a:rPr sz="1600" dirty="0"/>
              <a:t>STEP 03</a:t>
            </a:r>
          </a:p>
          <a:p>
            <a:pPr algn="ctr">
              <a:spcBef>
                <a:spcPts val="1400"/>
              </a:spcBef>
              <a:defRPr sz="1150" b="1">
                <a:solidFill>
                  <a:srgbClr val="EF4444"/>
                </a:solidFill>
                <a:latin typeface="Segoe UI"/>
              </a:defRPr>
            </a:pPr>
            <a:r>
              <a:rPr sz="1600" dirty="0"/>
              <a:t>🔴 HIGH RISK</a:t>
            </a:r>
          </a:p>
          <a:p>
            <a:pPr algn="ctr">
              <a:spcBef>
                <a:spcPts val="8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rPr sz="1600" dirty="0"/>
              <a:t>Hypoxia Warning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94960" y="2240280"/>
            <a:ext cx="1389888" cy="27432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68112" y="2377440"/>
            <a:ext cx="1243584" cy="175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64748B"/>
                </a:solidFill>
                <a:latin typeface="Segoe UI"/>
              </a:defRPr>
            </a:pPr>
            <a:r>
              <a:rPr sz="1600" dirty="0"/>
              <a:t>STEP 04</a:t>
            </a:r>
          </a:p>
          <a:p>
            <a:pPr algn="ctr">
              <a:spcBef>
                <a:spcPts val="1400"/>
              </a:spcBef>
              <a:defRPr sz="1150" b="1">
                <a:solidFill>
                  <a:srgbClr val="059669"/>
                </a:solidFill>
                <a:latin typeface="Segoe UI"/>
              </a:defRPr>
            </a:pPr>
            <a:r>
              <a:rPr sz="1600" dirty="0"/>
              <a:t>🛡️ Drainage Advisory</a:t>
            </a:r>
          </a:p>
          <a:p>
            <a:pPr algn="ctr">
              <a:spcBef>
                <a:spcPts val="8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rPr sz="1600" dirty="0"/>
              <a:t>Dig Lateral Furrows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0" y="2240280"/>
            <a:ext cx="1389888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22592" y="2377440"/>
            <a:ext cx="1243584" cy="15132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64748B"/>
                </a:solidFill>
                <a:latin typeface="Segoe UI"/>
              </a:defRPr>
            </a:pPr>
            <a:r>
              <a:rPr sz="1600" dirty="0"/>
              <a:t>STEP 05</a:t>
            </a:r>
          </a:p>
          <a:p>
            <a:pPr algn="ctr">
              <a:spcBef>
                <a:spcPts val="1400"/>
              </a:spcBef>
              <a:defRPr sz="1150" b="1">
                <a:solidFill>
                  <a:srgbClr val="0EA5E9"/>
                </a:solidFill>
                <a:latin typeface="Segoe UI"/>
              </a:defRPr>
            </a:pPr>
            <a:r>
              <a:rPr sz="1600" dirty="0"/>
              <a:t>📸 Farmer Upload</a:t>
            </a:r>
          </a:p>
          <a:p>
            <a:pPr algn="ctr">
              <a:spcBef>
                <a:spcPts val="8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rPr sz="1600" dirty="0"/>
              <a:t>Photo of Treated Field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03920" y="2240280"/>
            <a:ext cx="1389888" cy="27432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50224" y="2400300"/>
            <a:ext cx="1243584" cy="175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64748B"/>
                </a:solidFill>
                <a:latin typeface="Segoe UI"/>
              </a:defRPr>
            </a:pPr>
            <a:r>
              <a:rPr sz="1600" dirty="0"/>
              <a:t>STEP 06</a:t>
            </a:r>
          </a:p>
          <a:p>
            <a:pPr algn="ctr">
              <a:spcBef>
                <a:spcPts val="1400"/>
              </a:spcBef>
              <a:defRPr sz="1150" b="1">
                <a:solidFill>
                  <a:srgbClr val="F59E0B"/>
                </a:solidFill>
                <a:latin typeface="Segoe UI"/>
              </a:defRPr>
            </a:pPr>
            <a:r>
              <a:rPr sz="1600" dirty="0"/>
              <a:t>🤖 AI Condition Check</a:t>
            </a:r>
          </a:p>
          <a:p>
            <a:pPr algn="ctr">
              <a:spcBef>
                <a:spcPts val="8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rPr sz="1600" dirty="0"/>
              <a:t>Planned/Prototype CV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0" y="2240280"/>
            <a:ext cx="1389888" cy="27432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131552" y="2377440"/>
            <a:ext cx="1243584" cy="15132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64748B"/>
                </a:solidFill>
                <a:latin typeface="Segoe UI"/>
              </a:defRPr>
            </a:pPr>
            <a:r>
              <a:rPr sz="1600" dirty="0"/>
              <a:t>STEP 07</a:t>
            </a:r>
          </a:p>
          <a:p>
            <a:pPr algn="ctr">
              <a:spcBef>
                <a:spcPts val="1400"/>
              </a:spcBef>
              <a:defRPr sz="1150" b="1">
                <a:solidFill>
                  <a:srgbClr val="059669"/>
                </a:solidFill>
                <a:latin typeface="Segoe UI"/>
              </a:defRPr>
            </a:pPr>
            <a:r>
              <a:rPr sz="1600" dirty="0"/>
              <a:t>🟢 STRESS IMPROVING</a:t>
            </a:r>
          </a:p>
          <a:p>
            <a:pPr algn="ctr">
              <a:spcBef>
                <a:spcPts val="8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rPr sz="1600" dirty="0"/>
              <a:t>Flower Retention OK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212080"/>
            <a:ext cx="10728655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>
              <a:defRPr sz="1200" b="1">
                <a:solidFill>
                  <a:srgbClr val="0F172A"/>
                </a:solidFill>
                <a:latin typeface="Segoe UI"/>
              </a:defRPr>
            </a:pPr>
            <a:r>
              <a:t>🎯 Projected Impact: Root stress + flower drop + potential yield loss.</a:t>
            </a:r>
          </a:p>
          <a:p>
            <a:pPr algn="ctr">
              <a:defRPr sz="1050">
                <a:solidFill>
                  <a:srgbClr val="64748B"/>
                </a:solidFill>
                <a:latin typeface="Segoe UI"/>
              </a:defRPr>
            </a:pPr>
            <a:r>
              <a:t>Timely drainage furrows prevented prolonged waterlogging, safeguarding flower retention during the critical node phase.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PROPOSED SOLUTION/ARCHITECTURE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Proposed Solution/Architecture: System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64748B"/>
                </a:solidFill>
                <a:latin typeface="Segoe UI"/>
              </a:defRPr>
            </a:pPr>
            <a:r>
              <a:t>Concept first, technology second — built for Indian rural connectivity realities.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658368"/>
            <a:ext cx="4602175" cy="320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850" b="1">
                <a:solidFill>
                  <a:srgbClr val="10B981"/>
                </a:solidFill>
                <a:latin typeface="Segoe UI"/>
              </a:defRPr>
            </a:pPr>
            <a:r>
              <a:t>Implemented ✅  |  Prototype / Demo 🟡  |  Future Integration 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10728655" cy="77724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73352"/>
            <a:ext cx="10362895" cy="630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Segoe UI"/>
              </a:defRPr>
            </a:pPr>
            <a:r>
              <a:t>1. DATA LAYER:  Weather Telemetry • Satellite Data • Farmer Location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Tech: IMD &amp; OpenWeather API ✅  •  Soil Grids 🟡  •  Sentinel-2 NDVI 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87168"/>
            <a:ext cx="10728655" cy="7772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10362895" cy="630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Segoe UI"/>
              </a:defRPr>
            </a:pPr>
            <a:r>
              <a:t>2. AI RISK ENGINE:  Hazard Classification + Crop Stage Vulnerability Mapping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Tech: Crop-Stage Vulnerability Rules Matrix ✅  •  Extreme Weather Thresholds 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74136"/>
            <a:ext cx="10728655" cy="7772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447288"/>
            <a:ext cx="10362895" cy="630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Segoe UI"/>
              </a:defRPr>
            </a:pPr>
            <a:r>
              <a:t>3. ACTION ENGINE:  Crop-Specific Prescriptive Intervention Advisory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Tech: ICAR / KVK Agronomic Protocols ✅  •  Marathi / Hindi PWA ✅  •  SMS/IVR Fallback 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61104"/>
            <a:ext cx="10728655" cy="7772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334256"/>
            <a:ext cx="10362895" cy="630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10B981"/>
                </a:solidFill>
                <a:latin typeface="Segoe UI"/>
              </a:defRPr>
            </a:pPr>
            <a:r>
              <a:t>4. FIELD VERIFICATION:  Farmer Photo Upload + Crop Condition Analysis</a:t>
            </a:r>
          </a:p>
          <a:p>
            <a:pPr>
              <a:spcBef>
                <a:spcPts val="200"/>
              </a:spcBef>
              <a:defRPr sz="1000">
                <a:solidFill>
                  <a:srgbClr val="CBD5E1"/>
                </a:solidFill>
                <a:latin typeface="Segoe UI"/>
              </a:defRPr>
            </a:pPr>
            <a:r>
              <a:t>Tech: Mobile In-App Camera Upload ✅  •  Planned / Prototype CV Model 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148072"/>
            <a:ext cx="10728655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5221224"/>
            <a:ext cx="10362895" cy="630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Segoe UI"/>
              </a:defRPr>
            </a:pPr>
            <a:r>
              <a:t>5. ADAPTATION LAYER:  Temporal Delta Evaluation &amp; Continuous Monitoring Loop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Tech: Temporal Trend Engine 🟡  •  Closed-Loop Feedback System 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943600"/>
            <a:ext cx="10728655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59669"/>
                </a:solidFill>
                <a:latin typeface="Segoe UI"/>
              </a:defRPr>
            </a:pPr>
            <a:r>
              <a:t>💡 Architectural Principle: Core advisory functions offline; image analysis runs when connectivity is available.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EXPECTED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Expected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64748B"/>
                </a:solidFill>
                <a:latin typeface="Segoe UI"/>
              </a:defRPr>
            </a:pPr>
            <a:r>
              <a:t>From Reactive Farming to Early Intervention — Impact on Indian smallholders.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10728655" cy="5486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SYSTEMIC SHIFT:   REACT AFTER DAMAGE   ➔ ➔ ➔   PREDICT  +  ACT  +  VERIFY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31720"/>
            <a:ext cx="52120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496312"/>
            <a:ext cx="4846320" cy="9387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59669"/>
                </a:solidFill>
                <a:latin typeface="Segoe UI"/>
              </a:defRPr>
            </a:pPr>
            <a:r>
              <a:rPr sz="1400" dirty="0"/>
              <a:t>⏱️ EARLIER WARNING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sz="1400" dirty="0"/>
              <a:t>Detect multi-hazard climate risk 48–72h prior to severe damage, providing smallholders with a vital intervention window.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2331720"/>
            <a:ext cx="52120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28232" y="2496312"/>
            <a:ext cx="4846320" cy="7232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59669"/>
                </a:solidFill>
                <a:latin typeface="Segoe UI"/>
              </a:defRPr>
            </a:pPr>
            <a:r>
              <a:rPr sz="1400" dirty="0"/>
              <a:t>💧 SMARTER WATER RESPONSE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sz="1400" dirty="0"/>
              <a:t>Actionable drainage and moisture protocols mitigate both flood hypoxia and dry-spell stress.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0956" y="4238244"/>
            <a:ext cx="52120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370832"/>
            <a:ext cx="4846320" cy="7232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59669"/>
                </a:solidFill>
                <a:latin typeface="Segoe UI"/>
              </a:defRPr>
            </a:pPr>
            <a:r>
              <a:rPr sz="1400" dirty="0"/>
              <a:t>🌱 CROP-SPECIFIC GUIDANCE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sz="1400" dirty="0"/>
              <a:t>Tailored advice based on crop variety and growth stage prevents wasted inputs and ineffective chemical spraying.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4206240"/>
            <a:ext cx="52120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28232" y="4370832"/>
            <a:ext cx="4846320" cy="7232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59669"/>
                </a:solidFill>
                <a:latin typeface="Segoe UI"/>
              </a:defRPr>
            </a:pPr>
            <a:r>
              <a:rPr sz="1400" dirty="0"/>
              <a:t>📸 CONTINUOUS GROUND EVIDENCE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sz="1400" dirty="0"/>
              <a:t>Farmer-uploaded image tracking gives smallholders confidence and extension workers (KVK) verifiable field proof.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6080760"/>
            <a:ext cx="10728655" cy="4114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59669"/>
                </a:solidFill>
                <a:latin typeface="Segoe UI"/>
              </a:defRPr>
            </a:pPr>
            <a:r>
              <a:t>🎯 Designed specifically for Indian smallholder farming contexts, low-connectivity zones, and regional languages.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731520"/>
            <a:ext cx="10728655" cy="51206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051560"/>
            <a:ext cx="999713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t/>
            </a:r>
            <a:br/>
            <a:r>
              <a:t>Protect the Crop Before the Loss.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051560"/>
            <a:ext cx="2926080" cy="320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CONCLUSION &amp; VISION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468880"/>
            <a:ext cx="9997135" cy="777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0B981"/>
                </a:solidFill>
                <a:latin typeface="Segoe UI"/>
              </a:defRPr>
            </a:pPr>
            <a:r>
              <a:t>🌦️ PREDICT      •      🛡️ PROTECT      •      📸 VERIFY      •      🔄 ADAPT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429000"/>
            <a:ext cx="999713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FARMSHIELD AI</a:t>
            </a:r>
          </a:p>
          <a:p>
            <a:pPr>
              <a:spcBef>
                <a:spcPts val="300"/>
              </a:spcBef>
              <a:defRPr sz="1400">
                <a:solidFill>
                  <a:srgbClr val="10B981"/>
                </a:solidFill>
                <a:latin typeface="Segoe UI"/>
              </a:defRPr>
            </a:pPr>
            <a:r>
              <a:t>From Climate Prediction to Crop Protection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4434840"/>
            <a:ext cx="9997135" cy="8229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Ins="228600" rtlCol="0" anchor="ctr"/>
          <a:lstStyle/>
          <a:p>
            <a:pPr algn="ctr">
              <a:defRPr sz="1200" b="1">
                <a:solidFill>
                  <a:srgbClr val="059669"/>
                </a:solidFill>
                <a:latin typeface="Segoe UI"/>
              </a:defRPr>
            </a:pPr>
            <a:r>
              <a:t>“FarmShield converts a weather warning into a crop-specific intervention and then uses field evidence to update the risk.”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17220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>
                <a:solidFill>
                  <a:srgbClr val="64748B"/>
                </a:solidFill>
                <a:latin typeface="Segoe UI"/>
              </a:defRPr>
            </a:pPr>
            <a:r>
              <a:t>PCCOE International Grand Challenge: 2026 • Pune, India • Theme: AI for Climate Change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867</Words>
  <Application>Microsoft Office PowerPoint</Application>
  <PresentationFormat>Widescreen</PresentationFormat>
  <Paragraphs>151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DELL</dc:creator>
  <cp:keywords/>
  <dc:description>generated using python-pptx</dc:description>
  <cp:lastModifiedBy>Microsoft account</cp:lastModifiedBy>
  <cp:revision>4</cp:revision>
  <dcterms:created xsi:type="dcterms:W3CDTF">2013-01-27T09:14:16Z</dcterms:created>
  <dcterms:modified xsi:type="dcterms:W3CDTF">2026-09-17T11:31:23Z</dcterms:modified>
  <cp:category/>
</cp:coreProperties>
</file>