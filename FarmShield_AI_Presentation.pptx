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3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399925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669" y="617018"/>
            <a:ext cx="5303520" cy="25603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E2E8F0"/>
                </a:solidFill>
                <a:latin typeface="Segoe UI"/>
              </a:defRPr>
            </a:pPr>
            <a:r>
              <a:rPr dirty="0"/>
              <a:t>PCCOE INTERNATIONAL GRAND CHALLENGE: 2026 | PUNE, INDIA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62127"/>
            <a:ext cx="2926080" cy="256032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THEME: AI FOR CLIMATE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03020"/>
            <a:ext cx="54864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6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FARMSHIELD AI</a:t>
            </a:r>
          </a:p>
          <a:p>
            <a:pPr>
              <a:spcBef>
                <a:spcPts val="600"/>
              </a:spcBef>
              <a:defRPr sz="1500" b="1">
                <a:solidFill>
                  <a:srgbClr val="059669"/>
                </a:solidFill>
                <a:latin typeface="Segoe UI"/>
              </a:defRPr>
            </a:pPr>
            <a:r>
              <a:rPr dirty="0"/>
              <a:t>AI-Powered Multi-Hazard Climate Impact &amp; Early Intervention System for Agriculture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4669" y="2628900"/>
            <a:ext cx="5486400" cy="9601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150" b="1">
                <a:solidFill>
                  <a:srgbClr val="059669"/>
                </a:solidFill>
                <a:latin typeface="Segoe UI"/>
              </a:defRPr>
            </a:pPr>
            <a:r>
              <a:rPr dirty="0"/>
              <a:t>“</a:t>
            </a:r>
            <a:r>
              <a:rPr dirty="0" err="1"/>
              <a:t>FarmShield</a:t>
            </a:r>
            <a:r>
              <a:rPr dirty="0"/>
              <a:t> converts a weather warning into a crop-specific intervention, then uses field evidence to update the risk.”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229" y="3760470"/>
            <a:ext cx="5486400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50" b="1">
                <a:solidFill>
                  <a:srgbClr val="10B981"/>
                </a:solidFill>
                <a:latin typeface="Segoe UI"/>
              </a:defRPr>
            </a:pPr>
            <a:r>
              <a:t>“From Climate Prediction to Crop Protection”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Team Members Details:  Dinesh Khande • UG • JSPM COE • SPPU  |  Akshay Ryakawar • UG • JSPM COE • SPPU  |  Sanskar Penshanwar • UG • JSPM COE • SPPU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Climate risk is no longer a single isolated forecast — compounding shocks disrupt specific crop cycles.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EF4444"/>
                </a:solidFill>
                <a:latin typeface="Segoe UI"/>
              </a:defRPr>
            </a:pPr>
            <a:r>
              <a:t>⚡ THE VULNERABILITY CHAIN:   Weather Event   ➔   Unnoticed Crop Stress   ➔   Preventable Crop Loss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2542032" cy="2103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🌧️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Excess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Waterlogging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☀️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Heat Stress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Flower / Fruit Stress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2377440"/>
            <a:ext cx="2542032" cy="2103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64224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💧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Low Rainfall</a:t>
            </a:r>
          </a:p>
          <a:p>
            <a:pPr>
              <a:spcBef>
                <a:spcPts val="600"/>
              </a:spcBef>
              <a:defRPr sz="1200" b="1">
                <a:solidFill>
                  <a:srgbClr val="0EA5E9"/>
                </a:solidFill>
                <a:latin typeface="Segoe UI"/>
              </a:defRPr>
            </a:pPr>
            <a:r>
              <a:t>Water Stress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2377440"/>
            <a:ext cx="2542032" cy="21031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89136" y="2514600"/>
            <a:ext cx="217627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/>
            </a:pPr>
            <a:r>
              <a:t>🌡️</a:t>
            </a:r>
          </a:p>
          <a:p>
            <a:pPr>
              <a:spcBef>
                <a:spcPts val="600"/>
              </a:spcBef>
              <a:defRPr sz="1350" b="1">
                <a:solidFill>
                  <a:srgbClr val="0F172A"/>
                </a:solidFill>
                <a:latin typeface="Segoe UI"/>
              </a:defRPr>
            </a:pPr>
            <a:r>
              <a:t>Temperature Shock</a:t>
            </a:r>
          </a:p>
          <a:p>
            <a:pPr>
              <a:spcBef>
                <a:spcPts val="6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Growth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9160"/>
            <a:ext cx="10728655" cy="1463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2E8F0"/>
                </a:solidFill>
                <a:latin typeface="Segoe UI"/>
              </a:defRPr>
            </a:pPr>
            <a:r>
              <a:t>“Farmers get weather forecasts.</a:t>
            </a:r>
          </a:p>
          <a:p>
            <a:pPr algn="ctr">
              <a:defRPr sz="2400" b="1">
                <a:solidFill>
                  <a:srgbClr val="10B981"/>
                </a:solidFill>
                <a:latin typeface="Segoe UI"/>
              </a:defRPr>
            </a:pPr>
            <a:r>
              <a:t>They need crop-specific actions.”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PROBLEM STATEMENT/IDEA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Problem Statement/Idea: The Core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Weather Forecast ≠ Crop Protection — Why general meteorological forecasts fail to stop crop loss.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Typical Flow:</a:t>
            </a:r>
          </a:p>
          <a:p>
            <a:pPr>
              <a:spcBef>
                <a:spcPts val="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Weather Satellite  ➔  'Rain Expected: 70%'  ➔  Confused Farmer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Tells what the sky does, not what the crop needs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A rain forecast does not explain field risk.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Blind to growth stages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30mm rain is good for sugarcane, but fatal for flowering peas.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❌ Zero field verification</a:t>
            </a:r>
          </a:p>
          <a:p>
            <a:pPr>
              <a:defRPr sz="1050">
                <a:solidFill>
                  <a:srgbClr val="64748B"/>
                </a:solidFill>
                <a:latin typeface="Segoe UI"/>
              </a:defRPr>
            </a:pPr>
            <a:r>
              <a:t>One-way broadcast with no check on whether crops survived.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377440" cy="292608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EF4444"/>
                </a:solidFill>
                <a:latin typeface="Segoe UI"/>
              </a:defRPr>
            </a:pPr>
            <a:r>
              <a:t>STATUS QUO: WEATHER APPS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645920"/>
            <a:ext cx="5212080" cy="39319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22415" y="18288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FarmShield Flow:</a:t>
            </a:r>
          </a:p>
          <a:p>
            <a:pPr>
              <a:spcBef>
                <a:spcPts val="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Weather ➔ Hazard ➔ Crop Stage ➔ Action ➔ Photo ➔ Verify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Answers: 'What does this weather mean for THIS crop?'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Converts climate volatility into localized crop vulnerability.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Growth-stage specific rules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Dynamic thresholds for germination, flowering, podding, and harvest.</a:t>
            </a:r>
          </a:p>
          <a:p>
            <a:pPr>
              <a:spcBef>
                <a:spcPts val="1000"/>
              </a:spcBef>
              <a:defRPr sz="1150" b="1">
                <a:solidFill>
                  <a:srgbClr val="0F172A"/>
                </a:solidFill>
                <a:latin typeface="Segoe UI"/>
              </a:defRPr>
            </a:pPr>
            <a:r>
              <a:t>✔ Field verification loop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Farmer photo upload allows AI to verify crop stress trend over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22415" y="1828800"/>
            <a:ext cx="2377440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FARMSHIELD AI: CLOSED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THE DIFFERENCE: Normal weather apps predict weather. FarmShield predicts CROP RISK and verifies FIELD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Forecast to Field-Level Action — The 5-stage closed-loop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20824" cy="35661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7465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1. PREDICT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🌦️ Weather Telemetry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Ingest IMD/weather data to detect rainfall, heat, or moisture hazards.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28800"/>
            <a:ext cx="2020824" cy="35661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44952" y="1965960"/>
            <a:ext cx="17465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2. ASSESS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🌱 Crop Phenology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Map hazard against specific crop variety and vulnerable growth stage.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28800"/>
            <a:ext cx="2020824" cy="35661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1224" y="1965960"/>
            <a:ext cx="17465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3. PROTECT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🛡️ Field Advisory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Send prescriptive action (e.g. drainage, mulch) in regional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28800"/>
            <a:ext cx="202082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97496" y="1965960"/>
            <a:ext cx="17465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Segoe UI"/>
              </a:defRPr>
            </a:pPr>
            <a:r>
              <a:t>4. OBSERVE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📸 Field Photo</a:t>
            </a:r>
          </a:p>
          <a:p>
            <a:pPr>
              <a:spcBef>
                <a:spcPts val="10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Farmer performs advisory and uploads a smartphone crop snapshot.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28800"/>
            <a:ext cx="2020824" cy="35661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73768" y="1965960"/>
            <a:ext cx="1746504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5. ADAPT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🔄 Stress Check</a:t>
            </a:r>
          </a:p>
          <a:p>
            <a:pPr>
              <a:spcBef>
                <a:spcPts val="1000"/>
              </a:spcBef>
              <a:defRPr sz="1100">
                <a:solidFill>
                  <a:srgbClr val="CBD5E1"/>
                </a:solidFill>
                <a:latin typeface="Segoe UI"/>
              </a:defRPr>
            </a:pPr>
            <a:r>
              <a:t>Compare before/after crop condition; update risk &amp; next step.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🔄 THE CLOSED LOOP: Stage 5 field observations automatically feed back into Stage 1 continuous risk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Unique features/Innovation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The Continuous Feedback Loop — Why FarmShield is fundamentally different from a chatbot or weather app.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486400" cy="3931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9377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THE 5-STEP FEEDBACK LOOP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1. PREDICT  ➔  Micro-hazard risk identified 48h early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2. PROTECT  ➔  Stage-specific intervention dispatched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3. OBSERVE  ➔  Farmer uploads treated field photo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4. VERIFY   ➔  AI checks if crop stress is recovering</a:t>
            </a:r>
          </a:p>
          <a:p>
            <a:pPr>
              <a:spcBef>
                <a:spcPts val="600"/>
              </a:spcBef>
              <a:defRPr sz="1150" b="1">
                <a:solidFill>
                  <a:srgbClr val="E2E8F0"/>
                </a:solidFill>
                <a:latin typeface="Segoe UI"/>
              </a:defRPr>
            </a:pPr>
            <a:r>
              <a:t>5. ADAPT    ➔  Recalibrate risk &amp; trigger next action</a:t>
            </a:r>
          </a:p>
          <a:p>
            <a:pPr>
              <a:spcBef>
                <a:spcPts val="1000"/>
              </a:spcBef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↺ ADAPT loops back to PREDICT for continuous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292608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10B981"/>
                </a:solidFill>
                <a:latin typeface="Segoe UI"/>
              </a:defRPr>
            </a:pPr>
            <a:r>
              <a:t>THE HERO INNOVATION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45920"/>
            <a:ext cx="4967935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1828800"/>
            <a:ext cx="4510735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/>
            </a:r>
            <a:br/>
            <a:r>
              <a:t>Temporal Observation: BEFORE  ➔  AFTER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Leaf turgor recovering, water receded. Logs successful intervention protocol.</a:t>
            </a:r>
          </a:p>
          <a:p>
            <a:pPr>
              <a:spcBef>
                <a:spcPts val="800"/>
              </a:spcBef>
              <a:defRPr sz="1200" b="1">
                <a:solidFill>
                  <a:srgbClr val="F59E0B"/>
                </a:solidFill>
                <a:latin typeface="Segoe UI"/>
              </a:defRPr>
            </a:pPr>
            <a:r>
              <a:t>🟡 STRESS PERSISTING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Foliar stress stable; soil remains saturated. Dispatches secondary drainage advice.</a:t>
            </a:r>
          </a:p>
          <a:p>
            <a:pPr>
              <a:spcBef>
                <a:spcPts val="800"/>
              </a:spcBef>
              <a:defRPr sz="1200" b="1">
                <a:solidFill>
                  <a:srgbClr val="EF4444"/>
                </a:solidFill>
                <a:latin typeface="Segoe UI"/>
              </a:defRPr>
            </a:pPr>
            <a:r>
              <a:t>🔴 STRESS INCREASING</a:t>
            </a:r>
          </a:p>
          <a:p>
            <a:pPr>
              <a:defRPr sz="1050">
                <a:solidFill>
                  <a:srgbClr val="334155"/>
                </a:solidFill>
                <a:latin typeface="Segoe UI"/>
              </a:defRPr>
            </a:pPr>
            <a:r>
              <a:t>Early root rot or pathogen emergence. Escalates to KVK Extension Officer.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828800"/>
            <a:ext cx="2926080" cy="27432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00" b="1">
                <a:solidFill>
                  <a:srgbClr val="059669"/>
                </a:solidFill>
                <a:latin typeface="Segoe UI"/>
              </a:defRPr>
            </a:pPr>
            <a:r>
              <a:t>AI CROP STRESS VERIFICATION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715000"/>
            <a:ext cx="10728655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⭐ “FarmShield doesn't stop at an alert — it checks what happened in the field.”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 / FIELD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Solution: Field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One Farmer. One Risk. One Intervention. — Real-world Maharashtra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4572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0B981"/>
                </a:solidFill>
                <a:latin typeface="Segoe UI"/>
              </a:defRPr>
            </a:pPr>
            <a:r>
              <a:t>📍 LOCATION: Satara, Maharashtra   |   🌱 CROP: Green Pea   |   STAGE: Flowering (Sensitive to waterlogging)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01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🌧️ 70 mm Rain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Forecast Spike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915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02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t>🌱 Pea + Flowering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Vulnerable 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0" y="2240280"/>
            <a:ext cx="1389888" cy="27432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1363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03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EF4444"/>
                </a:solidFill>
                <a:latin typeface="Segoe UI"/>
              </a:defRPr>
            </a:pPr>
            <a:r>
              <a:t>🔴 HIGH RISK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Hypoxia Warning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6811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04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🛡️ Drainage Advisory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Dig Lateral Furrows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2240280"/>
            <a:ext cx="13898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2259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05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EA5E9"/>
                </a:solidFill>
                <a:latin typeface="Segoe UI"/>
              </a:defRPr>
            </a:pPr>
            <a:r>
              <a:t>📸 Farmer Upload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Photo of Treated Field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240280"/>
            <a:ext cx="1389888" cy="2743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7707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06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F59E0B"/>
                </a:solidFill>
                <a:latin typeface="Segoe UI"/>
              </a:defRPr>
            </a:pPr>
            <a:r>
              <a:t>🤖 AI Condition Check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Planned/Prototype CV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40280"/>
            <a:ext cx="1389888" cy="27432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31552" y="2377440"/>
            <a:ext cx="1243584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64748B"/>
                </a:solidFill>
                <a:latin typeface="Segoe UI"/>
              </a:defRPr>
            </a:pPr>
            <a:r>
              <a:t>STEP 07</a:t>
            </a:r>
          </a:p>
          <a:p>
            <a:pPr algn="ctr">
              <a:spcBef>
                <a:spcPts val="1400"/>
              </a:spcBef>
              <a:defRPr sz="1150" b="1">
                <a:solidFill>
                  <a:srgbClr val="059669"/>
                </a:solidFill>
                <a:latin typeface="Segoe UI"/>
              </a:defRPr>
            </a:pPr>
            <a:r>
              <a:t>🟢 STRESS IMPROVING</a:t>
            </a:r>
          </a:p>
          <a:p>
            <a:pPr algn="ctr">
              <a:spcBef>
                <a:spcPts val="8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Flower Retention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212080"/>
            <a:ext cx="10728655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🎯 Projected Impact: Root stress + flower drop + potential yield loss.</a:t>
            </a:r>
          </a:p>
          <a:p>
            <a:pPr algn="ctr">
              <a:defRPr sz="1050">
                <a:solidFill>
                  <a:srgbClr val="64748B"/>
                </a:solidFill>
                <a:latin typeface="Segoe UI"/>
              </a:defRPr>
            </a:pPr>
            <a:r>
              <a:t>Timely drainage furrows prevented prolonged waterlogging, safeguarding flower retention during the critical node phase.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PROPOSED SOLUTION/ARCHITECTURE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Proposed Solution/Architecture: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Concept first, technology second — built for Indian rural connectivity realities.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658368"/>
            <a:ext cx="4602175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Implemented ✅  |  Prototype / Demo 🟡  |  Future Integration 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1. DATA LAYER:  Weather Telemetry • Satellite Data • Farmer Location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IMD &amp; OpenWeather API ✅  •  Soil Grids 🟡  •  Sentinel-2 NDVI 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87168"/>
            <a:ext cx="10728655" cy="7772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2. AI RISK ENGINE:  Hazard Classification + Crop Stage Vulnerability Mapping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Crop-Stage Vulnerability Rules Matrix ✅  •  Extreme Weather Thresholds 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74136"/>
            <a:ext cx="10728655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47288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3. ACTION ENGINE:  Crop-Specific Prescriptive Intervention Advisory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ICAR / KVK Agronomic Protocols ✅  •  Marathi / Hindi PWA ✅  •  SMS/IVR Fallback 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61104"/>
            <a:ext cx="10728655" cy="7772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0B981"/>
                </a:solidFill>
                <a:latin typeface="Segoe UI"/>
              </a:defRPr>
            </a:pPr>
            <a:r>
              <a:t>4. FIELD VERIFICATION:  Farmer Photo Upload + Crop Condition Analysis</a:t>
            </a:r>
          </a:p>
          <a:p>
            <a:pPr>
              <a:spcBef>
                <a:spcPts val="200"/>
              </a:spcBef>
              <a:defRPr sz="1000">
                <a:solidFill>
                  <a:srgbClr val="CBD5E1"/>
                </a:solidFill>
                <a:latin typeface="Segoe UI"/>
              </a:defRPr>
            </a:pPr>
            <a:r>
              <a:t>Tech: Mobile In-App Camera Upload ✅  •  Planned / Prototype CV Model 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48072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221224"/>
            <a:ext cx="10362895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Segoe UI"/>
              </a:defRPr>
            </a:pPr>
            <a:r>
              <a:t>5. ADAPTATION LAYER:  Temporal Delta Evaluation &amp; Continuous Monitoring Loop</a:t>
            </a:r>
          </a:p>
          <a:p>
            <a:pPr>
              <a:spcBef>
                <a:spcPts val="2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Tech: Temporal Trend Engine 🟡  •  Closed-Loop Feedback System 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43600"/>
            <a:ext cx="1072865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💡 Architectural Principle: Core advisory functions offline; image analysis runs when connectivity is 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Expected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>
                <a:solidFill>
                  <a:srgbClr val="64748B"/>
                </a:solidFill>
                <a:latin typeface="Segoe UI"/>
              </a:defRPr>
            </a:pPr>
            <a:r>
              <a:t>From Reactive Farming to Early Intervention — Impact on Indian smallholders.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728655" cy="548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SYSTEMIC SHIFT:   REACT AFTER DAMAGE   ➔ ➔ ➔   PREDICT  +  ACT  + 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⏱️ EARLIER WARNING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Detect multi-hazard climate risk 48–72h prior to severe damage, providing smallholders with a vital intervention window.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233172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28232" y="249631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💧 SMARTER WATER RESPONSE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Actionable drainage and moisture protocols mitigate both flood hypoxia and dry-spell stress.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🌱 CROP-SPECIFIC GUIDANCE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Tailored advice based on crop variety and growth stage prevents wasted inputs and ineffective chemical spraying.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4206240"/>
            <a:ext cx="52120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4370832"/>
            <a:ext cx="4846320" cy="1316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59669"/>
                </a:solidFill>
                <a:latin typeface="Segoe UI"/>
              </a:defRPr>
            </a:pPr>
            <a:r>
              <a:t>📸 CONTINUOUS GROUND EVIDENCE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Farmer-uploaded image tracking gives smallholders confidence and extension workers (KVK) verifiable field proof.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080760"/>
            <a:ext cx="10728655" cy="4114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  <a:latin typeface="Segoe UI"/>
              </a:defRPr>
            </a:pPr>
            <a:r>
              <a:t>🎯 Designed specifically for Indian smallholder farming contexts, low-connectivity zones, and regional languages.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728655" cy="51206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997135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/>
            </a:r>
            <a:br/>
            <a:r>
              <a:t>Protect the Crop Before the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051560"/>
            <a:ext cx="2926080" cy="3200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t>CONCLUSION &amp;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9997135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0B981"/>
                </a:solidFill>
                <a:latin typeface="Segoe UI"/>
              </a:defRPr>
            </a:pPr>
            <a:r>
              <a:t>🌦️ PREDICT      •      🛡️ PROTECT      •      📸 VERIFY      •      🔄 ADAPT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999713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FARMSHIELD AI</a:t>
            </a:r>
          </a:p>
          <a:p>
            <a:pPr>
              <a:spcBef>
                <a:spcPts val="300"/>
              </a:spcBef>
              <a:defRPr sz="1400">
                <a:solidFill>
                  <a:srgbClr val="10B981"/>
                </a:solidFill>
                <a:latin typeface="Segoe UI"/>
              </a:defRPr>
            </a:pPr>
            <a:r>
              <a:t>From Climate Prediction to Crop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434840"/>
            <a:ext cx="9997135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Ins="228600" rtlCol="0" anchor="ctr"/>
          <a:lstStyle/>
          <a:p>
            <a:pPr algn="ctr">
              <a:defRPr sz="1200" b="1">
                <a:solidFill>
                  <a:srgbClr val="059669"/>
                </a:solidFill>
                <a:latin typeface="Segoe UI"/>
              </a:defRPr>
            </a:pPr>
            <a:r>
              <a:t>“FarmShield converts a weather warning into a crop-specific intervention and then uses field evidence to update the risk.”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PCCOE International Grand Challenge: 2026 • Pune, India • Theme: AI for Climate Change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876</Words>
  <Application>Microsoft Office PowerPoint</Application>
  <PresentationFormat>Widescreen</PresentationFormat>
  <Paragraphs>148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2026-09-16T10:53:26Z</dcterms:modified>
  <cp:category/>
</cp:coreProperties>
</file>